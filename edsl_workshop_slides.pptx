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0385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Survey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EDSL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Parrot Domain-Specific Language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063240"/>
            <a:ext cx="749808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Lab  ·  MACS30755 Workshop </a:t>
            </a:r>
            <a:r>
              <a:rPr lang="en-US" altLang="zh-CN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zh-CN" alt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 Mao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Building, Running &amp; Analyzing AI-Powered Survey Experiments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Agenda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22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1521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&amp; Setup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25880" y="1362456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EDSL, configure API keys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64792"/>
            <a:ext cx="822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764792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25880" y="177393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1984248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Surveys, Agents, Models, Results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386584"/>
            <a:ext cx="822960" cy="411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38658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25880" y="23957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25880" y="260604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full pipeline step-by-step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008376"/>
            <a:ext cx="822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300837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25880" y="30175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25880" y="3227832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exercises in pairs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630168"/>
            <a:ext cx="822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36301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25880" y="36393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Preview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5880" y="3849624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Games — individual assignment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251960"/>
            <a:ext cx="822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2519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25880" y="42611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Q&amp;A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325880" y="4471416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findings,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EDSL?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42600" y="1188570"/>
            <a:ext cx="2752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Parrot Domain-Specific Language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2600" y="1513706"/>
            <a:ext cx="4023360" cy="397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EDSL is an open-source Python framework that lets researchers design, run, and analyze AI-powered surveys at scale.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15168" y="221779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6920" y="219036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agents survey questions, just like human respondents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168" y="269328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6920" y="266585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demographic personas (party, age, education, region…)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168" y="316877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6920" y="314133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question across GPT-4, Claude, Gemini simultaneously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168" y="364425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16920" y="361682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results and export to Pandas for statistical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168" y="411974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6920" y="409231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published survey findings at negligible cost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1097280"/>
            <a:ext cx="3840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166A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83480" y="1207008"/>
            <a:ext cx="438912" cy="438912"/>
          </a:xfrm>
          <a:prstGeom prst="ellipse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12438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59552" y="122529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6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66560" y="1755648"/>
            <a:ext cx="0" cy="237744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1993392"/>
            <a:ext cx="3840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983480" y="2103120"/>
            <a:ext cx="438912" cy="43891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21396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59552" y="21214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766560" y="2651760"/>
            <a:ext cx="0" cy="237744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889504"/>
            <a:ext cx="3840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6A5AC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83480" y="2999232"/>
            <a:ext cx="438912" cy="438912"/>
          </a:xfrm>
          <a:prstGeom prst="ellipse">
            <a:avLst/>
          </a:prstGeom>
          <a:solidFill>
            <a:srgbClr val="6A5ACD"/>
          </a:solidFill>
          <a:ln w="12700">
            <a:solidFill>
              <a:srgbClr val="6A5A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3026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559552" y="30175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A5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766560" y="3547872"/>
            <a:ext cx="0" cy="237744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3785616"/>
            <a:ext cx="3840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60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983480" y="3895344"/>
            <a:ext cx="438912" cy="438912"/>
          </a:xfrm>
          <a:prstGeom prst="ellipse">
            <a:avLst/>
          </a:prstGeom>
          <a:solidFill>
            <a:srgbClr val="D6604D"/>
          </a:solidFill>
          <a:ln w="12700">
            <a:solidFill>
              <a:srgbClr val="D66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83480" y="3931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559552" y="391363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Question Types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question for the data you need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109728" cy="10058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9768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6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☑  QuestionMultipleChoice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Single-select from options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700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Party ID, gun laws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2240280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2240280"/>
            <a:ext cx="109728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9768" y="2313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✓✗  QuestionYesNo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" y="2606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yes/no response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2843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Marijuana legalization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097280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109728" cy="1005840"/>
          </a:xfrm>
          <a:prstGeom prst="rect">
            <a:avLst/>
          </a:prstGeom>
          <a:solidFill>
            <a:srgbClr val="6A5ACD"/>
          </a:solidFill>
          <a:ln w="12700">
            <a:solidFill>
              <a:srgbClr val="6A5A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10328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A5AC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⭐  QuestionLinearScale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10328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Likert / rating scale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1700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Confidence in Congress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2240280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240280"/>
            <a:ext cx="109728" cy="1005840"/>
          </a:xfrm>
          <a:prstGeom prst="rect">
            <a:avLst/>
          </a:prstGeom>
          <a:solidFill>
            <a:srgbClr val="D6604D"/>
          </a:solidFill>
          <a:ln w="12700">
            <a:solidFill>
              <a:srgbClr val="D66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10328" y="2313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60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✍  QuestionFreeText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10328" y="2606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prose answer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10328" y="2843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Most important problem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3383280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28600" y="3383280"/>
            <a:ext cx="109728" cy="1005840"/>
          </a:xfrm>
          <a:prstGeom prst="rect">
            <a:avLst/>
          </a:prstGeom>
          <a:solidFill>
            <a:srgbClr val="1B7A5A"/>
          </a:solidFill>
          <a:ln w="12700">
            <a:solidFill>
              <a:srgbClr val="1B7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29768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7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☐☐  QuestionCheckBox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9768" y="3749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Multi-select (check all)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9768" y="3986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News sources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Questions — Code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needs a unique question_name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060704"/>
            <a:ext cx="8503920" cy="3858768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9768" y="1116018"/>
            <a:ext cx="8284464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edsl import QuestionMultipleChoice, QuestionYesNo, QuestionLinearScale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Multiple-choice question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= QuestionMultipleChoice(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question_name = "party_id",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question_text = "Do you consider yourself a Democrat, Republican, or Independent?",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question_options = ["Democrat", "Republican", "Independent", "Other"]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Yes/No (great for replication of binary survey items)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= QuestionYesNo(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question_name = "marijuana_legal",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question_text = "Do you think marijuana should be made legal or not?"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Linear scale (Likert / confidence ratings)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= QuestionLinearScale(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question_name = "confidence_congress",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question_text = "How much confidence do you have in Congress?",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question_options = [1, 2, 3, 4, 5],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option_labels = {1: "Hardly any", 3: "Only some", 5: "A great deal"}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a single question instantly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q2.run()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results.select("marijuana_legal").print()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Agents &amp; Demographic Personas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your human sample in AI form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an AI entity whose responses are conditioned on the traits you assign.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trait dimensions: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029968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0299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party_affiliation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2414016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2414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798064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7980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education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182112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31821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331720" y="2029968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331720" y="20299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gender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1720" y="2414016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31720" y="2414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income_bracket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31720" y="2798064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331720" y="27980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race_ethnicity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3182112"/>
            <a:ext cx="182880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31720" y="31821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religion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1261872"/>
            <a:ext cx="4251960" cy="3520440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81728" y="1325880"/>
            <a:ext cx="4032504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edsl import Agent, AgentList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Single agent with detailed demographic traits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Agent(traits={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"party_affiliation": "Democrat",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"age_group":         "18-34",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"education":         "college graduate",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"region":            "Northeast",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"gender":            "female"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Grid of agents (3 parties × 3 age groups = 9)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= AgentList(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Agent(traits={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"party": party,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"age_group": age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party in ["Democrat", "Republican", "Independent"]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age in ["18-34", "35-54", "55+"]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print(f"Total agents: {len(agents)}")  # 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Specifying Language Models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EDSL is model-agnostic — compare across providers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A3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2743200" cy="2743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325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gpt-4o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7B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743200" cy="274320"/>
          </a:xfrm>
          <a:prstGeom prst="rect">
            <a:avLst/>
          </a:prstGeom>
          <a:solidFill>
            <a:srgbClr val="C27B2B"/>
          </a:solidFill>
          <a:ln w="12700">
            <a:solidFill>
              <a:srgbClr val="C27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1325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7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claude-3-5-sonnet-20241022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100584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72200" y="1005840"/>
            <a:ext cx="2743200" cy="27432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722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63640" y="1325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gemini-1.5-pro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106118"/>
            <a:ext cx="8503920" cy="2773180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" y="2240280"/>
            <a:ext cx="8284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edsl import Model, ModelList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Single model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gpt4o = Model("gpt-4o")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Compare multiple models side-by-side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= ModelList([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Model("gpt-4o"),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Model("claude-3-5-sonnet-20241022"),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Model("gemini-1.5-pro"),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Temperature control (0 = deterministic, 1 = creative)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model_cold = Model("gpt-4o", temperature=0.0)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 to a survey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survey.by(agents).by(models).run()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Running Surveys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agents, models, and scenarios with .by()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0020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10058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survey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0" y="1257300"/>
            <a:ext cx="164592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93392" y="1005840"/>
            <a:ext cx="1600200" cy="5029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93392" y="10058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.by(agents)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93592" y="1257300"/>
            <a:ext cx="164592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758184" y="1005840"/>
            <a:ext cx="1600200" cy="502920"/>
          </a:xfrm>
          <a:prstGeom prst="rect">
            <a:avLst/>
          </a:prstGeom>
          <a:solidFill>
            <a:srgbClr val="6A5ACD"/>
          </a:solidFill>
          <a:ln w="12700">
            <a:solidFill>
              <a:srgbClr val="6A5A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58184" y="10058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.by(models)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58384" y="1257300"/>
            <a:ext cx="164592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522976" y="1005840"/>
            <a:ext cx="1600200" cy="502920"/>
          </a:xfrm>
          <a:prstGeom prst="rect">
            <a:avLst/>
          </a:prstGeom>
          <a:solidFill>
            <a:srgbClr val="D6604D"/>
          </a:solidFill>
          <a:ln w="12700">
            <a:solidFill>
              <a:srgbClr val="D66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522976" y="10058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.run()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23176" y="1257300"/>
            <a:ext cx="164592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287768" y="1005840"/>
            <a:ext cx="1600200" cy="502920"/>
          </a:xfrm>
          <a:prstGeom prst="rect">
            <a:avLst/>
          </a:prstGeom>
          <a:solidFill>
            <a:srgbClr val="1B7A5A"/>
          </a:solidFill>
          <a:ln w="12700">
            <a:solidFill>
              <a:srgbClr val="1B7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287768" y="10058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results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656413"/>
            <a:ext cx="8503920" cy="3282015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6052" y="1801368"/>
            <a:ext cx="8284464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edsl import Survey, Agent, AgentList, Model, ModelList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survey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survey = Survey(questions=[q1, q2, q3])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agents (9 demographic cells)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= AgentList(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Agent(traits={"party": p, "age_group": a})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 in ["Democrat", "Republican", "Independent"]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a in ["18-34", "35-54", "55+"]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across two models — EDSL parallelizes automatically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survey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.by(agents)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.by(ModelList([Model("gpt-4o"), Model("claude-3-5-sonnet-20241022")]))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.run()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print(f"Result rows: {len(results)}")   # 9 agents × 2 models = 18 rows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63043" y="205066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EDSL caches API calls — identical runs cost nothing the second time.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Extracting &amp; Analyzing Results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04663" y="182880"/>
            <a:ext cx="2093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sort, and export to Pandas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728060"/>
            <a:ext cx="8503920" cy="3306380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9768" y="792068"/>
            <a:ext cx="8284464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Select specific columns ──────────────────────────────────────────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results.select("party", "age_group", "marijuana_legal").print()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Filter rows ───────────────────────────────────────────────────────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results.filter("party == 'Democrat'")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.select("age_group", "marijuana_legal").print()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Sort ──────────────────────────────────────────────────────────────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results.sort_by("party", "age_group")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.select("party", "age_group", "confidence_congress").print()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Export to Pandas ──────────────────────────────────────────────────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results.to_pandas()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names: "agent.party", "agent.age_group", "answer.marijuana_legal" …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Compute summary statistics ────────────────────────────────────────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 = 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df.groupby("agent.party")["answer.marijuana_legal"]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.apply(lambda x: (x == "Yes").mean() * 100)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.reset_index()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print(support)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30214"/>
              </p:ext>
            </p:extLst>
          </p:nvPr>
        </p:nvGraphicFramePr>
        <p:xfrm>
          <a:off x="320040" y="4076700"/>
          <a:ext cx="8503920" cy="10668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agent.party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agent.age_group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answer.marijuana_legal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Democrat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18-34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Democrat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55+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Republican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18-34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Independent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35-54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 Game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Assignment Overview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993392"/>
            <a:ext cx="411480" cy="38404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61872" y="20391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  —   Find a published survey dataset with demographic breakdowns (GSS, Pew, etc.)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587752"/>
            <a:ext cx="411480" cy="38404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5877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61872" y="26334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  —   Choose 1–2 survey questions and a corresponding visualization from the report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182112"/>
            <a:ext cx="411480" cy="38404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18211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61872" y="32278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  —   Build EDSL agents matching the human sample demographics and run the survey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776472"/>
            <a:ext cx="411480" cy="38404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77647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61872" y="38221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  —   Compare AI vs. human response distributions — do the patterns hold?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370832"/>
            <a:ext cx="411480" cy="38404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37083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61872" y="441655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  —   Submit a written report with figures and interpretation by end of quarter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GSS Replication: Full Walkthrough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Marijuana Legalization — GSS 2022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Data (GSS 2022)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25880"/>
          <a:ext cx="3931920" cy="2285997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Subgroup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% Support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Democrat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166AC"/>
                          </a:solidFill>
                        </a:rPr>
                        <a:t>76%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Independent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78787"/>
                          </a:solidFill>
                        </a:rPr>
                        <a:t>62%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Republican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D6604D"/>
                          </a:solidFill>
                        </a:rPr>
                        <a:t>44%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Age 18–34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</a:rPr>
                        <a:t>81%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Age 35–54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</a:rPr>
                        <a:t>68%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Age 55+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</a:rPr>
                        <a:t>52%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0" y="816964"/>
            <a:ext cx="4459574" cy="3927423"/>
          </a:xfrm>
          <a:prstGeom prst="rect">
            <a:avLst/>
          </a:prstGeom>
          <a:solidFill>
            <a:srgbClr val="1E2D3D"/>
          </a:solidFill>
          <a:ln w="1270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674232" y="934112"/>
            <a:ext cx="4244915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1: Build GSS-matched agents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= AgentList(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Agent(traits={"party": p, "age_group": a})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 in ["Democrat", "Republican", "Independent"]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a in ["18-34", "35-54", "55+"]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2: GSS survey question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QuestionYesNo(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question_name="marijuana_legal",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question_text=(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"Do you think the use of marijuana 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"should be made legal or not?"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3: Run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Survey([q]).by(agents).by(Model("gpt-4o")).run()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4: Compare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results.to_pandas()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ai_support = df.groupby("agent.party")["answer.marijuana_legal"]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.apply(lambda x: (x == "Yes").mean() * 100)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print(ai_support)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Open edsl_workshop.ipynb — Section 8 for the full comparison visualization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Exercises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 — use the Jupyter notebook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5156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4206240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  ·  10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6479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GSS marijuana replication with a different LLM (e.g., Claude). Does the partisan gap change in direction or magnitude?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206240" cy="347472"/>
          </a:xfrm>
          <a:prstGeom prst="rect">
            <a:avLst/>
          </a:prstGeom>
          <a:solidFill>
            <a:srgbClr val="6A5ACD"/>
          </a:solidFill>
          <a:ln w="12700">
            <a:solidFill>
              <a:srgbClr val="6A5A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0515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  ·  15 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0600" y="1463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5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Age Breakdown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176479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replication to analyze support by age_group. Create a grouped bar chart comparing AI vs. GSS data by age.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283464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834640"/>
            <a:ext cx="420624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28346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  ·  20 min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GSS Question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5478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different GSS survey item (gun laws, capital punishment, confidence in press). Find published numbers, build agents, and compare.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2834640"/>
            <a:ext cx="4206240" cy="347472"/>
          </a:xfrm>
          <a:prstGeom prst="rect">
            <a:avLst/>
          </a:prstGeom>
          <a:solidFill>
            <a:srgbClr val="D6604D"/>
          </a:solidFill>
          <a:ln w="12700">
            <a:solidFill>
              <a:srgbClr val="D66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28346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★  ·  Bonus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— Persona Sensitivity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35478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rich narrative bio vs. bare demographic traits change AI responses? Use ScenarioList to test both conditions.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start replicating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38912" cy="43891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1064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EDSL Documentation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38074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docs.expectedparrot.com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801368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438912" cy="43891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1892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2130552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github.com/expectedparrot/edsl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551176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6A5AC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438912" cy="438912"/>
          </a:xfrm>
          <a:prstGeom prst="ellipse">
            <a:avLst/>
          </a:prstGeom>
          <a:solidFill>
            <a:srgbClr val="6A5ACD"/>
          </a:solidFill>
          <a:ln w="12700">
            <a:solidFill>
              <a:srgbClr val="6A5A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642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GSS Data Explorer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288036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5AC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gssdataexplorer.norc.org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300984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60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392424"/>
            <a:ext cx="438912" cy="438912"/>
          </a:xfrm>
          <a:prstGeom prst="ellipse">
            <a:avLst/>
          </a:prstGeom>
          <a:solidFill>
            <a:srgbClr val="D6604D"/>
          </a:solidFill>
          <a:ln w="12700">
            <a:solidFill>
              <a:srgbClr val="D66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33924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355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 Research Datasets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6301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60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pewresearch.org/datasets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050792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0A37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4142232"/>
            <a:ext cx="438912" cy="43891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142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51560" y="41056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EDSL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1560" y="437997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edsl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1698</Words>
  <Application>Microsoft Macintosh PowerPoint</Application>
  <PresentationFormat>On-screen Show (16:9)</PresentationFormat>
  <Paragraphs>310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Survey Workflows with EDSL</dc:title>
  <dc:subject>PptxGenJS Presentation</dc:subject>
  <dc:creator>EDSL Workshop</dc:creator>
  <cp:lastModifiedBy>Vera Mao</cp:lastModifiedBy>
  <cp:revision>3</cp:revision>
  <dcterms:created xsi:type="dcterms:W3CDTF">2026-03-25T04:47:35Z</dcterms:created>
  <dcterms:modified xsi:type="dcterms:W3CDTF">2026-04-03T03:40:31Z</dcterms:modified>
</cp:coreProperties>
</file>